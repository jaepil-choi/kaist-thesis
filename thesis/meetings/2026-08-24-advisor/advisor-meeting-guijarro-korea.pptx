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미국 (원 논문)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원 수익률
(K = 0)</c:v>
                  </c:pt>
                  <c:pt idx="1">
                    <c:v>OU +
Threshold</c:v>
                  </c:pt>
                  <c:pt idx="2">
                    <c:v>Fourier +
FFN</c:v>
                  </c:pt>
                  <c:pt idx="3">
                    <c:v>CNN +
Transformer</c:v>
                  </c:pt>
                  <c:pt idx="4">
                    <c:v>CNN + Trans
(거래비용 반영)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1.64</c:v>
                </c:pt>
                <c:pt idx="1">
                  <c:v>0.73</c:v>
                </c:pt>
                <c:pt idx="2">
                  <c:v>1.95</c:v>
                </c:pt>
                <c:pt idx="3">
                  <c:v>4.16</c:v>
                </c:pt>
                <c:pt idx="4">
                  <c:v>1.24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한국 (본 연구)</c:v>
                </c:pt>
              </c:strCache>
            </c:strRef>
          </c:tx>
          <c:spPr>
            <a:solidFill>
              <a:srgbClr val="22222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원 수익률
(K = 0)</c:v>
                  </c:pt>
                  <c:pt idx="1">
                    <c:v>OU +
Threshold</c:v>
                  </c:pt>
                  <c:pt idx="2">
                    <c:v>Fourier +
FFN</c:v>
                  </c:pt>
                  <c:pt idx="3">
                    <c:v>CNN +
Transformer</c:v>
                  </c:pt>
                  <c:pt idx="4">
                    <c:v>CNN + Trans
(거래비용 반영)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-0.08</c:v>
                </c:pt>
                <c:pt idx="1">
                  <c:v>1.47</c:v>
                </c:pt>
                <c:pt idx="2">
                  <c:v>3.27</c:v>
                </c:pt>
                <c:pt idx="3">
                  <c:v>4.15</c:v>
                </c:pt>
                <c:pt idx="4">
                  <c:v>1.37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-1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1111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미팅. 파트1은 3분, 파트2는 12분, 파트3 질문에 15분 배분.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분해가 논문의 프레임워크. 기여는 새 모형이 아니라 어느 부품이 중요한지를 분리해 보여준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Fourier+FFN 대 CNN+Trans 비교가 핵심 증거. 배분은 같고 신호만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파트3 질문으로 그대로 연결된다. 논의 3개를 여기서 미리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수치가 비슷하다고 해서 같은 경제적 성과가 아니라는 점은 파트3에서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R²가 낮다는 것이 시장중립성의 실증적 확인. 6팩터 기준이라는 단서는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실행 산출물. outputs/paper-korean/fig_05_korean_cumulative_returns.png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 반영 후 1.37이 실질적 결론. 4.15는 마찰 없는 상한.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질문. OOS 길이가 짧으면 t-통계량이 커도 설득력이 떨어진다는 점을 스스로 먼저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배당 제외가 결과를 과대/과소 어느 쪽으로 왜곡하는지 방향을 단정하지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IPCA는 반드시 한다는 전제. 질문은 '무엇으로 하느냐'.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600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KAIST MFE 학위논문 · 지도교수 미팅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96596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통계적 차익거래의 한국시장 재현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2724912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Guijarro-Ordonez, Pelger, and Zanotti (2025), “Deep Learning Statistical Arbitrage”, Management Science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3310128"/>
            <a:ext cx="2926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61188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논문 요약 — 통계적 차익거래의 3단계 분해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재현 결과 — 미국 원 논문과 한국 데이터 비교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논의사항 3건 — 표본기간 · 수익률 정의 · IPCA 특성변수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598932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최재필  |  2026. 08. 24.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논문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차익거래를 세 부품으로 분해한다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차익거래 포트폴리오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1463040"/>
            <a:ext cx="7616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팩터모형 잔차를 거래 가능한 포트폴리오로 만든다.   ε = Φ R,   Φ = I − β W_Fᵀ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개별종목 롱 + 동일 위험노출 모방포트폴리오 숏 = 시장중립 상대가치 거래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715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차익거래 신호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2697480"/>
            <a:ext cx="7616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L = 30일 누적잔차 경로에서 시계열 패턴을 추출한다.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CNN이 국소 패턴(추세·반전), Transformer가 전역 의존관계를 학습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9502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차익거래 정책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3931920"/>
            <a:ext cx="7616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 종목 비중으로 변환한다.  수익률 예측이 아니라 Sharpe ratio를 직접 최적화하고,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 절댓값 합을 1로 고정해 레버리지를 제약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349240"/>
            <a:ext cx="11000232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49240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핵심 주장 : </a:t>
            </a:r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부품 중 ②신호 추출이 성과를 가르는 결정적 요소다.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함수만 유연하게 만들어도 개선이 없고, 잔차 대신 원 수익률로 학습하면 성과가 급락한다.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논문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 결과 — 미국, PCA5 잔차, OOS 2002–2016 (15년)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81328"/>
          <a:ext cx="1100023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743200"/>
                <a:gridCol w="2103120"/>
                <a:gridCol w="2221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모형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Sharpe ratio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수익률 (K = 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 + Threshold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(OU 모수)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 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Fourier + FFN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(푸리에 기저)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 + Transformer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38862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논문의 세 가지 결론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4251960"/>
            <a:ext cx="11000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잔차로 거래해야 한다.  원 수익률(K = 0)은 서로 강하게 상관되어 학습할 정보가 사실상 몇 개뿐이다.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결정적이다.  Fourier + FFN과 CNN + Transformer는 배분 함수가 동일하고 신호만 다른데 1.95 → 4.16.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강건하다.  Fama-French 8팩터에 대한 알파 t = 11 ~ 14, R² ≈ 0, 거래비용 반영 후에도 Sharpe 0.94 ~ 1.24 유지.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58978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: 원 논문 Table 1, Table 2, Table 9.  팩터 5개를 넘어서면 성과 개선이 평탄해진다.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설계 — 원 논문과 무엇을 같게 하고 무엇이 달라졌나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383280"/>
                <a:gridCol w="4480560"/>
                <a:gridCol w="987552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논문 (미국)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연구 (한국)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원자료 기간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1978–2016 CRSP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2015–2026 국내 일별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잔차 표본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1998–2016 (19년)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2020-01-02 ~ 2026-07-20 (1,606일)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OOS 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2002–2016 (15년)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2024-01-19 ~ 2026-07-20 (606일, 2.4년)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일별 종목수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550 (S&amp;P500 규모)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127 ~ 185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universe 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전월말 시총 &gt; 전체의 0.01%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규칙, KOSPI·KOSDAQ 보통주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수익률 정의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return (배당 포함)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권리·분할 조정 price return, 현금배당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팩터 모형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 1/3/5/8, PCA, IPCA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FF 1/3/5, PCA K = 0~15, IPCA 진행 예정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계약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 0, 1,000일 학습, 125일 재학습, 100 epoch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bp 거래 + 1 bp 공매도 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파라미터 적용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4406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‘논의’ 표시 세 항목이 오늘 여쭙고 싶은 내용입니다. (슬라이드 9 · 10 · 11)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 재현 — 정책 모형별 Sharpe ratio, 미국 대 한국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417320"/>
          <a:ext cx="7086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4813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178308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 간 순서가 그대로 재현되었다.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 &lt; Fourier+FFN &lt; CNN+Transformer.  한국에서도 신호가 유연할수록 성과가 높다.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CNN+Transformer는 4.15로 원 논문 4.16과 사실상 동일하다.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연수익률 16.8%, 연변동성 4.0%.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= 0이 한국에서는 음수다.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미국은 1.64였다.  요인 제거의 효과가 한국에서 더 크게 나타났다.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58064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미국은 PCA5 기준(비용 반영은 IPCA 기준), 한국은 PCA5 기준.  한국 OOS 606일, 연율화는 원 논문 규약(252일)을 따름.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2 재현 — 알파는 기존 위험요인으로 설명되지 않는다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737360"/>
                <a:gridCol w="1737360"/>
                <a:gridCol w="16733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PCA 팩터 수 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t(α)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t(μ)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 (원 수익률)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−5.3%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−0.81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526280"/>
            <a:ext cx="11000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≥ 1의 모든 사양에서 t(α) &gt; 2.8 이고 R²는 3% 미만이다.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알파가 평균수익과 거의 같다 (16.7% 대 16.8%).  즉 수익의 대부분이 위험 프리미엄이 아니다.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= 0에서만 유의하지 않다.  요인을 제거해야 차익거래가 성립한다는 원 논문 결론과 일치한다.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58978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+ Transformer, Sharpe 목적함수.  알파 기준은 한국 FF5 + MOM 6팩터이며 원 논문의 FF8과는 다르다 (STREV·LTREV 정의 미확보).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 5 재현 — 한국 표본외 누적수익률 (2024-01 ~ 2026-07)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C:\Users\chlje\DevProjects\kaist-thesis\guijarro-ordonez-2025-replication\paper-assets\figures\fig_05_korean_cumulative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1000232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120640"/>
            <a:ext cx="1100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정책 모두 대부분의 잔차 사양에서 우상향하지만, 기울기와 변동폭이 뚜렷하게 다르다.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선이 원 수익률(K = 0)이다.  CNN + Transformer와 Fourier + FFN 모두에서 크게 손실이 났다.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누적곡선의 우상향만으로 거래가능성을 결론낼 수 없다.  다음 장의 비용 결과와 함께 보아야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재현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거래비용과 강건성 — 결론은 유지, 성과는 크게 축소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거래비용 5 bp + 공매도 보유비용 1 bp를 목적함수에 반영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349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미반영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Sharpe ratio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연수익률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일별 turnover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34290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모형이 비용을 알고 학습하면 turnover를 62% 줄여 대응한다.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논문도 IPCA 기준 Sharpe 4.16 → 0.94 ~ 1.24로 하락했다.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1444752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 점검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19379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444752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Sharpe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논문과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(30일 lookback)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60일 lookback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모형 (재학습 없음)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5일 보유 목적함수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 + FFN (신호 고정)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FFN (신호 없음)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0" y="397764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배분만 유연하게 한 두 ablation이 모두 기준에 크게 못 미친다.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‘신호가 결정적’이라는 원 논문의 핵심 주장이 한국에서도 성립한다.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" y="4846320"/>
            <a:ext cx="11000232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논문과 다르게 나온 점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68680" y="5266944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원 수익률(K = 0) 성과가 음수          ②  단순 반전 전략이 모든 lag에서 음수 (미국은 양수)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상위 비중만 남기는 sparsification의 이득 없음          ④  K = 15에서 성과 하락 (미국은 평탄)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94360" y="60807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PCA5 잔차, CNN + Transformer 기준.  turnover는 연속 두 시점 비중벡터 차이의 L1 노름.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논의사항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1 — 잔차 표본과 표본외 기간을 얼마나 늘려야 합니까?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91840"/>
                <a:gridCol w="29535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논문 (미국)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(한국)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확보 가능 최대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1978 – 2016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2015-01 – 2026-07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2015-01 – 2026-07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잔차 표본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1998 – 2016  (19년)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2020-01 – 2026-07  (1,606일)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2016 – 2026  (추정 약 10년)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OOS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2002 – 2016  (15년)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2024-01 – 2026-07  (2.4년)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 – 7년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342900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여쭙고 싶은 것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11000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표본외 2.4년으로 학위논문의 주장을 세울 수 있습니까?  최소 몇 년을 확보해야 한다고 보십니까?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 표본 시작을 2020년에서 2016년으로 당기면 OOS가 약 6~7년으로 늘어납니다.  다만 학습창 1,000일과 125일 재학습 계약을 유지하면 전 구간 재실행이 필요합니다.  진행할까요?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2015년 이전 일별 자료 확보에 시간을 투자할 가치가 있습니까?  아니면 현재 구간에서 분석의 깊이를 더하는 편이 낫습니까?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58978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원자료 : 국내 수정주가 일별 8,651,872행 · 4,962종목 · 2015-01-02 ~ 2026-07-20.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논의사항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2 — 현금배당을 제외한 price return을 사용해도 됩니까?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325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논문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연구 현재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수익률 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CRSP total return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권리·분할 조정 price return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현금배당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상장폐지 수익률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3246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예상되는 영향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584448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롱숏 잔차 전략이라 배당의 시장 전체 효과는 상당 부분 상쇄된다.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배당락일 전후에 잔차가 체계적으로 왜곡될 수 있다.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고배당 종목이 지속적으로 저평가 잔차로 잡힐 가능성이 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324612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여쭙고 싶은 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3584448"/>
            <a:ext cx="5193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price return 기준으로 논문을 진행해도 됩니까?  아니면 total return이 필수 조건입니까?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필수라면 배당 원자료 확보를 다른 작업보다 우선해야 합니까?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배당락 조정 sensitivity 분석을 덧붙이는 것으로 충분한 방어가 됩니까?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58978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결과는 모두 price return 기준이므로 원 논문의 total-return 경제성과 직접 비교되지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0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논의사항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3 — IPCA에 쓸 팩터와 기업특성을 무엇으로 정할까요?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000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논문은 Chen et al. (2022)의 46개 기업특성을 240개월 rolling window로 사용해 조건부 잠재팩터를 추정합니다.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0023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480560"/>
                <a:gridCol w="4736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쟁점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특성 집합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46개 정의를 그대로 이식해 builder 구현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(427,076 종목-월 산출)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46개 유지  /  한국 문헌에서 검증된 집합으로 축소·대체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특성의 원천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Spread · Beta 계열 · CF · NI 는 문서화된 proxy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 유지  /  해당 특성 제외  /  원천 확보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공시일 vintage 없음 → 회계연도 말 + 3개월 고정 lag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lag 유지  /  공시일 자료 확보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표본 길이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논문은 240개월 필요, 국내 월별 패널은 139개월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 완화 후 sensitivity로 표기  /  240개월 확보까지 보류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팩터와의 정합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FF5 + MOM은 별도 방법론으로 산출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IPCA 특성과 정의·리밸런싱을 통일  /  분리 유지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257800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여쭙고 싶은 것 :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집합을 미국 정의 그대로 가져가는 것과 한국 시장에서 검증된 특성으로 재구성하는 것 중 어느 쪽이 심사에서 방어하기 좋습니까?  그리고 240개월 window 완화를 한계로 명시하고 진행해도 됩니까?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61722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IPCA는 원 논문에서 가장 높은 성과를 낸 잔차 계열이므로 재현 완결성에 필수입니다.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딥러닝 통계적 차익거래의 한국시장 재현</dc:title>
  <dc:subject>PptxGenJS Presentation</dc:subject>
  <dc:creator>Jaepil Choi</dc:creator>
  <cp:lastModifiedBy>Jaepil Choi</cp:lastModifiedBy>
  <cp:revision>1</cp:revision>
  <dcterms:created xsi:type="dcterms:W3CDTF">2026-08-23T21:01:34Z</dcterms:created>
  <dcterms:modified xsi:type="dcterms:W3CDTF">2026-08-23T21:01:34Z</dcterms:modified>
</cp:coreProperties>
</file>